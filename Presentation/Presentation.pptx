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4" r:id="rId7"/>
    <p:sldId id="275" r:id="rId8"/>
    <p:sldId id="277" r:id="rId9"/>
    <p:sldId id="262" r:id="rId10"/>
    <p:sldId id="263" r:id="rId11"/>
    <p:sldId id="264" r:id="rId12"/>
    <p:sldId id="265" r:id="rId13"/>
    <p:sldId id="266" r:id="rId14"/>
    <p:sldId id="269" r:id="rId15"/>
    <p:sldId id="278" r:id="rId16"/>
    <p:sldId id="271" r:id="rId17"/>
    <p:sldId id="27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79" autoAdjust="0"/>
  </p:normalViewPr>
  <p:slideViewPr>
    <p:cSldViewPr snapToGrid="0" snapToObjects="1">
      <p:cViewPr>
        <p:scale>
          <a:sx n="75" d="100"/>
          <a:sy n="75" d="100"/>
        </p:scale>
        <p:origin x="1666"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3F629-B32B-478F-B726-DDB434370B1F}" type="datetimeFigureOut">
              <a:rPr lang="en-GB" smtClean="0"/>
              <a:t>22/12/2024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70E507-E8F5-42BB-B15C-13954F508548}" type="slidenum">
              <a:rPr lang="en-GB" smtClean="0"/>
              <a:t>‹#›</a:t>
            </a:fld>
            <a:endParaRPr lang="en-GB"/>
          </a:p>
        </p:txBody>
      </p:sp>
    </p:spTree>
    <p:extLst>
      <p:ext uri="{BB962C8B-B14F-4D97-AF65-F5344CB8AC3E}">
        <p14:creationId xmlns:p14="http://schemas.microsoft.com/office/powerpoint/2010/main" val="1616971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Today, we’ll be presenting our research on </a:t>
            </a:r>
            <a:r>
              <a:rPr lang="en-GB" b="1" dirty="0"/>
              <a:t>student performance prediction</a:t>
            </a:r>
            <a:r>
              <a:rPr lang="en-GB" dirty="0"/>
              <a:t> using classification and regression.</a:t>
            </a:r>
          </a:p>
        </p:txBody>
      </p:sp>
      <p:sp>
        <p:nvSpPr>
          <p:cNvPr id="4" name="Slide Number Placeholder 3"/>
          <p:cNvSpPr>
            <a:spLocks noGrp="1"/>
          </p:cNvSpPr>
          <p:nvPr>
            <p:ph type="sldNum" sz="quarter" idx="5"/>
          </p:nvPr>
        </p:nvSpPr>
        <p:spPr/>
        <p:txBody>
          <a:bodyPr/>
          <a:lstStyle/>
          <a:p>
            <a:fld id="{0F70E507-E8F5-42BB-B15C-13954F508548}" type="slidenum">
              <a:rPr lang="en-GB" smtClean="0"/>
              <a:t>1</a:t>
            </a:fld>
            <a:endParaRPr lang="en-GB"/>
          </a:p>
        </p:txBody>
      </p:sp>
    </p:spTree>
    <p:extLst>
      <p:ext uri="{BB962C8B-B14F-4D97-AF65-F5344CB8AC3E}">
        <p14:creationId xmlns:p14="http://schemas.microsoft.com/office/powerpoint/2010/main" val="2003887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want to find the key drivers impacting final outcomes (grades/overall performance)</a:t>
            </a:r>
            <a:r>
              <a:rPr lang="en-GB"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Early intervention is crucial; missing at-risk students can lead to dropouts or failing grades. Data-driven methods help identify them earlier, enabling better resource allocation.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Dataset1 focuses on discrete grades (A–E), while Dataset2 has a continuous ‘Overall’ score. Each includes academic, demographic, and </a:t>
            </a:r>
            <a:r>
              <a:rPr lang="en-GB" dirty="0" err="1"/>
              <a:t>behavioral</a:t>
            </a:r>
            <a:r>
              <a:rPr lang="en-GB" dirty="0"/>
              <a:t> features.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We dropped irrelevant columns like IDs, dealt with missing values by removing or imputing them, and encoded categorical variables—label encoding so that our ML algorithms can handle them numerically. Then we scaled numeric features to prevent any one feature from dominating the model.</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data cleaning, we started by removing the letters and symbols from numerical data. It is best to remove these symbols because they might introduce noise to the dataset</a:t>
            </a:r>
          </a:p>
          <a:p>
            <a:endParaRPr lang="en-US" dirty="0"/>
          </a:p>
          <a:p>
            <a:endParaRPr lang="en-PS" dirty="0"/>
          </a:p>
        </p:txBody>
      </p:sp>
      <p:sp>
        <p:nvSpPr>
          <p:cNvPr id="4" name="Slide Number Placeholder 3"/>
          <p:cNvSpPr>
            <a:spLocks noGrp="1"/>
          </p:cNvSpPr>
          <p:nvPr>
            <p:ph type="sldNum" sz="quarter" idx="5"/>
          </p:nvPr>
        </p:nvSpPr>
        <p:spPr/>
        <p:txBody>
          <a:bodyPr/>
          <a:lstStyle/>
          <a:p>
            <a:fld id="{59BFB35C-D4CE-0D47-A728-94B2B6892AD1}" type="slidenum">
              <a:rPr lang="en-PS" smtClean="0"/>
              <a:t>6</a:t>
            </a:fld>
            <a:endParaRPr lang="en-PS"/>
          </a:p>
        </p:txBody>
      </p:sp>
    </p:spTree>
    <p:extLst>
      <p:ext uri="{BB962C8B-B14F-4D97-AF65-F5344CB8AC3E}">
        <p14:creationId xmlns:p14="http://schemas.microsoft.com/office/powerpoint/2010/main" val="2618163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Encoding categorical features is crucial so that algorithms can interpret them numerically.</a:t>
            </a:r>
          </a:p>
          <a:p>
            <a:r>
              <a:rPr lang="en-GB" dirty="0"/>
              <a:t>Scaling prevents large-value features from dominating the model.</a:t>
            </a:r>
            <a:endParaRPr lang="en-PS" dirty="0"/>
          </a:p>
        </p:txBody>
      </p:sp>
      <p:sp>
        <p:nvSpPr>
          <p:cNvPr id="4" name="Slide Number Placeholder 3"/>
          <p:cNvSpPr>
            <a:spLocks noGrp="1"/>
          </p:cNvSpPr>
          <p:nvPr>
            <p:ph type="sldNum" sz="quarter" idx="5"/>
          </p:nvPr>
        </p:nvSpPr>
        <p:spPr/>
        <p:txBody>
          <a:bodyPr/>
          <a:lstStyle/>
          <a:p>
            <a:fld id="{59BFB35C-D4CE-0D47-A728-94B2B6892AD1}" type="slidenum">
              <a:rPr lang="en-PS" smtClean="0"/>
              <a:t>7</a:t>
            </a:fld>
            <a:endParaRPr lang="en-PS"/>
          </a:p>
        </p:txBody>
      </p:sp>
    </p:spTree>
    <p:extLst>
      <p:ext uri="{BB962C8B-B14F-4D97-AF65-F5344CB8AC3E}">
        <p14:creationId xmlns:p14="http://schemas.microsoft.com/office/powerpoint/2010/main" val="2423176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Dataset1, we found ‘Absences’ is highly correlated with grade class (around 0.73). This suggests that frequent absenteeism is a strong indicator of lower performance.</a:t>
            </a:r>
            <a:br>
              <a:rPr lang="en-GB" dirty="0"/>
            </a:br>
            <a:r>
              <a:rPr lang="en-GB" dirty="0"/>
              <a:t>For Dataset2, ‘Last semester GPA’ correlated at 0.93 with ‘Overall’, indicating academic consistency is crucial.</a:t>
            </a:r>
          </a:p>
        </p:txBody>
      </p:sp>
      <p:sp>
        <p:nvSpPr>
          <p:cNvPr id="4" name="Slide Number Placeholder 3"/>
          <p:cNvSpPr>
            <a:spLocks noGrp="1"/>
          </p:cNvSpPr>
          <p:nvPr>
            <p:ph type="sldNum" sz="quarter" idx="5"/>
          </p:nvPr>
        </p:nvSpPr>
        <p:spPr/>
        <p:txBody>
          <a:bodyPr/>
          <a:lstStyle/>
          <a:p>
            <a:fld id="{0F70E507-E8F5-42BB-B15C-13954F508548}" type="slidenum">
              <a:rPr lang="en-GB" smtClean="0"/>
              <a:t>8</a:t>
            </a:fld>
            <a:endParaRPr lang="en-GB"/>
          </a:p>
        </p:txBody>
      </p:sp>
    </p:spTree>
    <p:extLst>
      <p:ext uri="{BB962C8B-B14F-4D97-AF65-F5344CB8AC3E}">
        <p14:creationId xmlns:p14="http://schemas.microsoft.com/office/powerpoint/2010/main" val="3259716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 nine classification algorithms were tested. We highlight final accuracies and look at a confusion matrix focusing on grade distribution.</a:t>
            </a:r>
          </a:p>
        </p:txBody>
      </p:sp>
      <p:sp>
        <p:nvSpPr>
          <p:cNvPr id="4" name="Slide Number Placeholder 3"/>
          <p:cNvSpPr>
            <a:spLocks noGrp="1"/>
          </p:cNvSpPr>
          <p:nvPr>
            <p:ph type="sldNum" sz="quarter" idx="5"/>
          </p:nvPr>
        </p:nvSpPr>
        <p:spPr/>
        <p:txBody>
          <a:bodyPr/>
          <a:lstStyle/>
          <a:p>
            <a:fld id="{0F70E507-E8F5-42BB-B15C-13954F508548}" type="slidenum">
              <a:rPr lang="en-GB" smtClean="0"/>
              <a:t>9</a:t>
            </a:fld>
            <a:endParaRPr lang="en-GB"/>
          </a:p>
        </p:txBody>
      </p:sp>
    </p:spTree>
    <p:extLst>
      <p:ext uri="{BB962C8B-B14F-4D97-AF65-F5344CB8AC3E}">
        <p14:creationId xmlns:p14="http://schemas.microsoft.com/office/powerpoint/2010/main" val="1793772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SVM gave the best accuracy at 0.75. Logistic Regression came close at 0.73.</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We see from the confusion matrix that class ‘E’ (50% of dataset) was predicted best due to the imbalance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We also compared with older works, e.g., references achieving 0.63–0.70, so our approach shows improvement.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Random Forest Regressor led at 0.90 R², slightly outperforming Linear Regression and Gradient Boosting. This suggests ensemble methods capture non-linearities well in the data.</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While we got strong results, we must address the class imbalance in Dataset1. Also, Dataset2 has only 493 entries, so further data collection could improve generalization.</a:t>
            </a:r>
          </a:p>
        </p:txBody>
      </p:sp>
      <p:sp>
        <p:nvSpPr>
          <p:cNvPr id="4" name="Slide Number Placeholder 3"/>
          <p:cNvSpPr>
            <a:spLocks noGrp="1"/>
          </p:cNvSpPr>
          <p:nvPr>
            <p:ph type="sldNum" sz="quarter" idx="5"/>
          </p:nvPr>
        </p:nvSpPr>
        <p:spPr/>
        <p:txBody>
          <a:bodyPr/>
          <a:lstStyle/>
          <a:p>
            <a:fld id="{0F70E507-E8F5-42BB-B15C-13954F508548}" type="slidenum">
              <a:rPr lang="en-GB" smtClean="0"/>
              <a:t>14</a:t>
            </a:fld>
            <a:endParaRPr lang="en-GB"/>
          </a:p>
        </p:txBody>
      </p:sp>
    </p:spTree>
    <p:extLst>
      <p:ext uri="{BB962C8B-B14F-4D97-AF65-F5344CB8AC3E}">
        <p14:creationId xmlns:p14="http://schemas.microsoft.com/office/powerpoint/2010/main" val="3578431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future, we’d like to integrate real-time data streams from e-learning platforms, adopt data augmentation for underrepresented classes, and explore advanced neural approaches or transfer learning.</a:t>
            </a:r>
          </a:p>
        </p:txBody>
      </p:sp>
      <p:sp>
        <p:nvSpPr>
          <p:cNvPr id="4" name="Slide Number Placeholder 3"/>
          <p:cNvSpPr>
            <a:spLocks noGrp="1"/>
          </p:cNvSpPr>
          <p:nvPr>
            <p:ph type="sldNum" sz="quarter" idx="5"/>
          </p:nvPr>
        </p:nvSpPr>
        <p:spPr/>
        <p:txBody>
          <a:bodyPr/>
          <a:lstStyle/>
          <a:p>
            <a:fld id="{0F70E507-E8F5-42BB-B15C-13954F508548}" type="slidenum">
              <a:rPr lang="en-GB" smtClean="0"/>
              <a:t>15</a:t>
            </a:fld>
            <a:endParaRPr lang="en-GB"/>
          </a:p>
        </p:txBody>
      </p:sp>
    </p:spTree>
    <p:extLst>
      <p:ext uri="{BB962C8B-B14F-4D97-AF65-F5344CB8AC3E}">
        <p14:creationId xmlns:p14="http://schemas.microsoft.com/office/powerpoint/2010/main" val="287999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nutshell, after cleaning and feature engineering, we tested multiple algorithms. We found SVM and Random Forest to be top performers. Key features like absences and prior GPA stand out as strong indicators of performance.</a:t>
            </a:r>
          </a:p>
        </p:txBody>
      </p:sp>
      <p:sp>
        <p:nvSpPr>
          <p:cNvPr id="4" name="Slide Number Placeholder 3"/>
          <p:cNvSpPr>
            <a:spLocks noGrp="1"/>
          </p:cNvSpPr>
          <p:nvPr>
            <p:ph type="sldNum" sz="quarter" idx="5"/>
          </p:nvPr>
        </p:nvSpPr>
        <p:spPr/>
        <p:txBody>
          <a:bodyPr/>
          <a:lstStyle/>
          <a:p>
            <a:fld id="{0F70E507-E8F5-42BB-B15C-13954F508548}" type="slidenum">
              <a:rPr lang="en-GB" smtClean="0"/>
              <a:t>16</a:t>
            </a:fld>
            <a:endParaRPr lang="en-GB"/>
          </a:p>
        </p:txBody>
      </p:sp>
    </p:spTree>
    <p:extLst>
      <p:ext uri="{BB962C8B-B14F-4D97-AF65-F5344CB8AC3E}">
        <p14:creationId xmlns:p14="http://schemas.microsoft.com/office/powerpoint/2010/main" val="2356187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of presentation. Thank you for your time!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Predicting Student Performance</a:t>
            </a:r>
            <a:endParaRPr dirty="0"/>
          </a:p>
        </p:txBody>
      </p:sp>
      <p:sp>
        <p:nvSpPr>
          <p:cNvPr id="3" name="Subtitle 2"/>
          <p:cNvSpPr>
            <a:spLocks noGrp="1"/>
          </p:cNvSpPr>
          <p:nvPr>
            <p:ph type="subTitle" idx="1"/>
          </p:nvPr>
        </p:nvSpPr>
        <p:spPr/>
        <p:txBody>
          <a:bodyPr>
            <a:normAutofit/>
          </a:bodyPr>
          <a:lstStyle/>
          <a:p>
            <a:endParaRPr lang="en-US" sz="3200" b="0" i="0" dirty="0">
              <a:effectLst/>
            </a:endParaRPr>
          </a:p>
          <a:p>
            <a:r>
              <a:rPr lang="en-US" sz="3200" i="0" dirty="0">
                <a:solidFill>
                  <a:schemeClr val="tx1"/>
                </a:solidFill>
                <a:effectLst/>
              </a:rPr>
              <a:t>Waleed Rimawi    </a:t>
            </a:r>
            <a:r>
              <a:rPr lang="en-US" sz="3200" b="0" i="0" dirty="0">
                <a:effectLst/>
              </a:rPr>
              <a:t>(</a:t>
            </a:r>
            <a:r>
              <a:rPr lang="en-GB" b="0" i="0" dirty="0">
                <a:solidFill>
                  <a:srgbClr val="5F5F5F"/>
                </a:solidFill>
                <a:effectLst/>
                <a:latin typeface="Arial" panose="020B0604020202020204" pitchFamily="34" charset="0"/>
              </a:rPr>
              <a:t>24290818</a:t>
            </a:r>
            <a:r>
              <a:rPr lang="en-US" sz="3200" b="0" i="0" dirty="0">
                <a:effectLst/>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What factors most influence student performance?</a:t>
            </a:r>
          </a:p>
        </p:txBody>
      </p:sp>
      <p:sp>
        <p:nvSpPr>
          <p:cNvPr id="3" name="Content Placeholder 2"/>
          <p:cNvSpPr>
            <a:spLocks noGrp="1"/>
          </p:cNvSpPr>
          <p:nvPr>
            <p:ph idx="1"/>
          </p:nvPr>
        </p:nvSpPr>
        <p:spPr/>
        <p:txBody>
          <a:bodyPr/>
          <a:lstStyle/>
          <a:p>
            <a:r>
              <a:rPr dirty="0"/>
              <a:t>Investigation of academic, demographic, and behavioral factors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rPr dirty="0"/>
              <a:t>Educators rely heavily on early performance metrics</a:t>
            </a:r>
          </a:p>
          <a:p>
            <a:r>
              <a:rPr dirty="0"/>
              <a:t>Biased or incomplete data might miss at-risk students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Datasets</a:t>
            </a:r>
          </a:p>
        </p:txBody>
      </p:sp>
      <p:sp>
        <p:nvSpPr>
          <p:cNvPr id="3" name="Content Placeholder 2"/>
          <p:cNvSpPr>
            <a:spLocks noGrp="1"/>
          </p:cNvSpPr>
          <p:nvPr>
            <p:ph idx="1"/>
          </p:nvPr>
        </p:nvSpPr>
        <p:spPr/>
        <p:txBody>
          <a:bodyPr>
            <a:normAutofit/>
          </a:bodyPr>
          <a:lstStyle/>
          <a:p>
            <a:r>
              <a:rPr sz="2000" dirty="0"/>
              <a:t>Dataset1 (Classification): </a:t>
            </a:r>
            <a:endParaRPr lang="en-GB" sz="2000" dirty="0"/>
          </a:p>
          <a:p>
            <a:pPr lvl="1"/>
            <a:r>
              <a:rPr lang="en-GB" sz="1800" dirty="0"/>
              <a:t>2,392 student records</a:t>
            </a:r>
          </a:p>
          <a:p>
            <a:pPr lvl="1"/>
            <a:r>
              <a:rPr lang="en-GB" sz="1800" dirty="0"/>
              <a:t>15 columns (demographic, academic, extracurricular)</a:t>
            </a:r>
          </a:p>
          <a:p>
            <a:r>
              <a:rPr sz="2000" dirty="0"/>
              <a:t>Dataset2 (Regression): </a:t>
            </a:r>
            <a:endParaRPr lang="en-GB" sz="2000" dirty="0"/>
          </a:p>
          <a:p>
            <a:pPr lvl="1"/>
            <a:r>
              <a:rPr lang="en-GB" sz="1800" dirty="0"/>
              <a:t>493 student records</a:t>
            </a:r>
          </a:p>
          <a:p>
            <a:pPr lvl="1"/>
            <a:r>
              <a:rPr lang="fr-FR" sz="1800" dirty="0"/>
              <a:t>16 </a:t>
            </a:r>
            <a:r>
              <a:rPr lang="fr-FR" sz="1800" dirty="0" err="1"/>
              <a:t>columns</a:t>
            </a:r>
            <a:r>
              <a:rPr lang="fr-FR" sz="1800" dirty="0"/>
              <a:t> (HSC, SSC, </a:t>
            </a:r>
            <a:r>
              <a:rPr lang="fr-FR" sz="1800" dirty="0" err="1"/>
              <a:t>prior</a:t>
            </a:r>
            <a:r>
              <a:rPr lang="fr-FR" sz="1800" dirty="0"/>
              <a:t> GPA, </a:t>
            </a:r>
            <a:r>
              <a:rPr lang="fr-FR" sz="1800" dirty="0" err="1"/>
              <a:t>attendance</a:t>
            </a:r>
            <a:r>
              <a:rPr lang="fr-FR" sz="1800" dirty="0"/>
              <a:t>, etc.)</a:t>
            </a:r>
          </a:p>
          <a:p>
            <a:pPr lvl="1"/>
            <a:endParaRPr lang="fr-FR" sz="1800" dirty="0"/>
          </a:p>
          <a:p>
            <a:pPr marL="457200" lvl="1" indent="0">
              <a:buNone/>
            </a:pPr>
            <a:endParaRPr sz="1800" dirty="0"/>
          </a:p>
        </p:txBody>
      </p:sp>
      <p:pic>
        <p:nvPicPr>
          <p:cNvPr id="7" name="Picture 6">
            <a:extLst>
              <a:ext uri="{FF2B5EF4-FFF2-40B4-BE49-F238E27FC236}">
                <a16:creationId xmlns:a16="http://schemas.microsoft.com/office/drawing/2014/main" id="{0EFDE197-4B85-4D0B-AE90-A7C36CF2A5FA}"/>
              </a:ext>
            </a:extLst>
          </p:cNvPr>
          <p:cNvPicPr>
            <a:picLocks noChangeAspect="1"/>
          </p:cNvPicPr>
          <p:nvPr/>
        </p:nvPicPr>
        <p:blipFill>
          <a:blip r:embed="rId3"/>
          <a:stretch>
            <a:fillRect/>
          </a:stretch>
        </p:blipFill>
        <p:spPr>
          <a:xfrm>
            <a:off x="962533" y="3863181"/>
            <a:ext cx="2210660" cy="2582862"/>
          </a:xfrm>
          <a:prstGeom prst="rect">
            <a:avLst/>
          </a:prstGeom>
        </p:spPr>
      </p:pic>
      <p:pic>
        <p:nvPicPr>
          <p:cNvPr id="9" name="Picture 8">
            <a:extLst>
              <a:ext uri="{FF2B5EF4-FFF2-40B4-BE49-F238E27FC236}">
                <a16:creationId xmlns:a16="http://schemas.microsoft.com/office/drawing/2014/main" id="{0626041C-E24B-4CB5-84D2-457B081DE044}"/>
              </a:ext>
            </a:extLst>
          </p:cNvPr>
          <p:cNvPicPr>
            <a:picLocks noChangeAspect="1"/>
          </p:cNvPicPr>
          <p:nvPr/>
        </p:nvPicPr>
        <p:blipFill>
          <a:blip r:embed="rId4"/>
          <a:stretch>
            <a:fillRect/>
          </a:stretch>
        </p:blipFill>
        <p:spPr>
          <a:xfrm>
            <a:off x="4936005" y="3863181"/>
            <a:ext cx="2210660" cy="27878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Our Approach</a:t>
            </a:r>
          </a:p>
        </p:txBody>
      </p:sp>
      <p:sp>
        <p:nvSpPr>
          <p:cNvPr id="4" name="Rectangle 1">
            <a:extLst>
              <a:ext uri="{FF2B5EF4-FFF2-40B4-BE49-F238E27FC236}">
                <a16:creationId xmlns:a16="http://schemas.microsoft.com/office/drawing/2014/main" id="{FC15D1FE-2F6C-4F9A-A331-4F6E9D4F8CBF}"/>
              </a:ext>
            </a:extLst>
          </p:cNvPr>
          <p:cNvSpPr>
            <a:spLocks noGrp="1" noChangeArrowheads="1"/>
          </p:cNvSpPr>
          <p:nvPr>
            <p:ph idx="1"/>
          </p:nvPr>
        </p:nvSpPr>
        <p:spPr bwMode="auto">
          <a:xfrm>
            <a:off x="457200" y="1493942"/>
            <a:ext cx="82296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Data Preprocessing &amp; Cleaning</a:t>
            </a:r>
          </a:p>
          <a:p>
            <a:pPr marL="685800" lvl="1" defTabSz="91440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rPr>
              <a:t>Remove irrelevant columns (e.g., IDs), handle null values, encode categorical</a:t>
            </a:r>
            <a:r>
              <a:rPr kumimoji="0" lang="ar-SY" altLang="en-US" sz="1600" i="0" u="none" strike="noStrike" cap="none" normalizeH="0" baseline="0" dirty="0">
                <a:ln>
                  <a:noFill/>
                </a:ln>
                <a:solidFill>
                  <a:schemeClr val="tx1"/>
                </a:solidFill>
                <a:effectLst/>
              </a:rPr>
              <a:t> </a:t>
            </a:r>
            <a:r>
              <a:rPr kumimoji="0" lang="en-US" altLang="en-US" sz="1600" i="0" u="none" strike="noStrike" cap="none" normalizeH="0" baseline="0" dirty="0">
                <a:ln>
                  <a:noFill/>
                </a:ln>
                <a:solidFill>
                  <a:schemeClr val="tx1"/>
                </a:solidFill>
                <a:effectLst/>
              </a:rPr>
              <a:t>features, scale numeric columns</a:t>
            </a:r>
            <a:endParaRPr kumimoji="0" lang="ar-SY" altLang="en-US" sz="20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Classification (Dataset1)</a:t>
            </a:r>
          </a:p>
          <a:p>
            <a:pPr marL="685800" lvl="1" defTabSz="91440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rPr>
              <a:t>Goal: Predict discrete grade classes (A–E)</a:t>
            </a:r>
          </a:p>
          <a:p>
            <a:pPr marL="685800" lvl="1" defTabSz="91440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rPr>
              <a:t>Models: SVM, Random Forest, Gradient Boosting, etc.</a:t>
            </a:r>
          </a:p>
          <a:p>
            <a:pPr marL="685800" lvl="1" defTabSz="91440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rPr>
              <a:t>Main Metric: Accuracy, Confusion Matrix</a:t>
            </a:r>
            <a:endParaRPr kumimoji="0" lang="ar-SY" altLang="en-US" sz="160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FontTx/>
              <a:buChar char="•"/>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rPr>
              <a:t>Regression (Dataset2)</a:t>
            </a:r>
          </a:p>
          <a:p>
            <a:pPr marL="685800" lvl="1" defTabSz="91440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rPr>
              <a:t>Goal: Predict continuous “Overall” performance score</a:t>
            </a:r>
          </a:p>
          <a:p>
            <a:pPr marL="685800" lvl="1" defTabSz="91440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rPr>
              <a:t>Models: Random Forest Regressor, Linear Regression, etc.</a:t>
            </a:r>
          </a:p>
          <a:p>
            <a:pPr marL="685800" lvl="1" defTabSz="91440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tx1"/>
                </a:solidFill>
                <a:effectLst/>
              </a:rPr>
              <a:t>Main Metrics: R2 score, Mean Squared Error (MSE)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BC769-8561-9D74-0054-B9FE453C2068}"/>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456CCB24-BD07-C7ED-5325-6DC28D2B27DA}"/>
              </a:ext>
            </a:extLst>
          </p:cNvPr>
          <p:cNvSpPr>
            <a:spLocks noGrp="1"/>
          </p:cNvSpPr>
          <p:nvPr>
            <p:ph idx="1"/>
          </p:nvPr>
        </p:nvSpPr>
        <p:spPr/>
        <p:txBody>
          <a:bodyPr>
            <a:normAutofit/>
          </a:bodyPr>
          <a:lstStyle/>
          <a:p>
            <a:r>
              <a:rPr lang="en-US" sz="2700" dirty="0"/>
              <a:t>Removing letters and symbols from numerical data</a:t>
            </a:r>
          </a:p>
          <a:p>
            <a:endParaRPr lang="en-US" sz="2700" dirty="0"/>
          </a:p>
        </p:txBody>
      </p:sp>
      <p:sp>
        <p:nvSpPr>
          <p:cNvPr id="10" name="Arrow: Right 9">
            <a:extLst>
              <a:ext uri="{FF2B5EF4-FFF2-40B4-BE49-F238E27FC236}">
                <a16:creationId xmlns:a16="http://schemas.microsoft.com/office/drawing/2014/main" id="{4710286E-A5FB-A8FF-8F43-625E86C76926}"/>
              </a:ext>
            </a:extLst>
          </p:cNvPr>
          <p:cNvSpPr/>
          <p:nvPr/>
        </p:nvSpPr>
        <p:spPr>
          <a:xfrm>
            <a:off x="3672954" y="3835122"/>
            <a:ext cx="1243523" cy="89535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pic>
        <p:nvPicPr>
          <p:cNvPr id="5" name="Picture 4">
            <a:extLst>
              <a:ext uri="{FF2B5EF4-FFF2-40B4-BE49-F238E27FC236}">
                <a16:creationId xmlns:a16="http://schemas.microsoft.com/office/drawing/2014/main" id="{2D09B1BE-0954-428E-ACD5-ADCE17DD33B2}"/>
              </a:ext>
            </a:extLst>
          </p:cNvPr>
          <p:cNvPicPr>
            <a:picLocks noChangeAspect="1"/>
          </p:cNvPicPr>
          <p:nvPr/>
        </p:nvPicPr>
        <p:blipFill>
          <a:blip r:embed="rId3"/>
          <a:stretch>
            <a:fillRect/>
          </a:stretch>
        </p:blipFill>
        <p:spPr>
          <a:xfrm>
            <a:off x="1169602" y="2934821"/>
            <a:ext cx="1790950" cy="2219635"/>
          </a:xfrm>
          <a:prstGeom prst="rect">
            <a:avLst/>
          </a:prstGeom>
        </p:spPr>
      </p:pic>
      <p:pic>
        <p:nvPicPr>
          <p:cNvPr id="7" name="Picture 6">
            <a:extLst>
              <a:ext uri="{FF2B5EF4-FFF2-40B4-BE49-F238E27FC236}">
                <a16:creationId xmlns:a16="http://schemas.microsoft.com/office/drawing/2014/main" id="{04E349B7-3E04-4DCF-9A39-126A6FC865AF}"/>
              </a:ext>
            </a:extLst>
          </p:cNvPr>
          <p:cNvPicPr>
            <a:picLocks noChangeAspect="1"/>
          </p:cNvPicPr>
          <p:nvPr/>
        </p:nvPicPr>
        <p:blipFill>
          <a:blip r:embed="rId4"/>
          <a:stretch>
            <a:fillRect/>
          </a:stretch>
        </p:blipFill>
        <p:spPr>
          <a:xfrm>
            <a:off x="5496054" y="2963400"/>
            <a:ext cx="1848108" cy="2191056"/>
          </a:xfrm>
          <a:prstGeom prst="rect">
            <a:avLst/>
          </a:prstGeom>
        </p:spPr>
      </p:pic>
    </p:spTree>
    <p:extLst>
      <p:ext uri="{BB962C8B-B14F-4D97-AF65-F5344CB8AC3E}">
        <p14:creationId xmlns:p14="http://schemas.microsoft.com/office/powerpoint/2010/main" val="301360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BC769-8561-9D74-0054-B9FE453C2068}"/>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456CCB24-BD07-C7ED-5325-6DC28D2B27DA}"/>
              </a:ext>
            </a:extLst>
          </p:cNvPr>
          <p:cNvSpPr>
            <a:spLocks noGrp="1"/>
          </p:cNvSpPr>
          <p:nvPr>
            <p:ph idx="1"/>
          </p:nvPr>
        </p:nvSpPr>
        <p:spPr/>
        <p:txBody>
          <a:bodyPr>
            <a:normAutofit/>
          </a:bodyPr>
          <a:lstStyle/>
          <a:p>
            <a:r>
              <a:rPr lang="en-GB" sz="1600" dirty="0"/>
              <a:t>Removing irrelevant or missing data</a:t>
            </a:r>
          </a:p>
          <a:p>
            <a:r>
              <a:rPr lang="en-GB" sz="1600" dirty="0"/>
              <a:t>Encoding categorical features (</a:t>
            </a:r>
            <a:r>
              <a:rPr lang="en-GB" sz="1600" dirty="0" err="1"/>
              <a:t>LabelEncoder</a:t>
            </a:r>
            <a:r>
              <a:rPr lang="en-GB" sz="1600" dirty="0"/>
              <a:t>)</a:t>
            </a:r>
          </a:p>
          <a:p>
            <a:r>
              <a:rPr lang="en-GB" sz="1600" dirty="0"/>
              <a:t>Scaling numeric data (</a:t>
            </a:r>
            <a:r>
              <a:rPr lang="en-GB" sz="1600" dirty="0" err="1"/>
              <a:t>StandardScaler</a:t>
            </a:r>
            <a:r>
              <a:rPr lang="en-GB" sz="1600" dirty="0"/>
              <a:t>)</a:t>
            </a:r>
          </a:p>
          <a:p>
            <a:pPr>
              <a:buFont typeface="+mj-lt"/>
              <a:buAutoNum type="arabicPeriod"/>
            </a:pPr>
            <a:endParaRPr lang="en-GB" sz="1600" dirty="0"/>
          </a:p>
          <a:p>
            <a:pPr>
              <a:buFont typeface="+mj-lt"/>
              <a:buAutoNum type="arabicPeriod"/>
            </a:pPr>
            <a:endParaRPr lang="en-GB" sz="1600" dirty="0"/>
          </a:p>
          <a:p>
            <a:pPr>
              <a:buFont typeface="+mj-lt"/>
              <a:buAutoNum type="arabicPeriod"/>
            </a:pPr>
            <a:endParaRPr lang="en-GB" sz="1600" dirty="0"/>
          </a:p>
          <a:p>
            <a:endParaRPr lang="en-US" sz="2700" dirty="0"/>
          </a:p>
        </p:txBody>
      </p:sp>
      <p:pic>
        <p:nvPicPr>
          <p:cNvPr id="5" name="Picture 4">
            <a:extLst>
              <a:ext uri="{FF2B5EF4-FFF2-40B4-BE49-F238E27FC236}">
                <a16:creationId xmlns:a16="http://schemas.microsoft.com/office/drawing/2014/main" id="{6B58F44F-DC05-4E29-97D3-F94CD8060BF3}"/>
              </a:ext>
            </a:extLst>
          </p:cNvPr>
          <p:cNvPicPr>
            <a:picLocks noChangeAspect="1"/>
          </p:cNvPicPr>
          <p:nvPr/>
        </p:nvPicPr>
        <p:blipFill>
          <a:blip r:embed="rId3"/>
          <a:stretch>
            <a:fillRect/>
          </a:stretch>
        </p:blipFill>
        <p:spPr>
          <a:xfrm>
            <a:off x="1224000" y="2808000"/>
            <a:ext cx="6111492" cy="3646603"/>
          </a:xfrm>
          <a:prstGeom prst="rect">
            <a:avLst/>
          </a:prstGeom>
        </p:spPr>
      </p:pic>
    </p:spTree>
    <p:extLst>
      <p:ext uri="{BB962C8B-B14F-4D97-AF65-F5344CB8AC3E}">
        <p14:creationId xmlns:p14="http://schemas.microsoft.com/office/powerpoint/2010/main" val="986496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682A8-F4DC-4A16-9028-A1013A88D14F}"/>
              </a:ext>
            </a:extLst>
          </p:cNvPr>
          <p:cNvSpPr>
            <a:spLocks noGrp="1"/>
          </p:cNvSpPr>
          <p:nvPr>
            <p:ph type="title"/>
          </p:nvPr>
        </p:nvSpPr>
        <p:spPr/>
        <p:txBody>
          <a:bodyPr/>
          <a:lstStyle/>
          <a:p>
            <a:r>
              <a:rPr lang="en-GB" dirty="0"/>
              <a:t>Feature Correlation</a:t>
            </a:r>
          </a:p>
        </p:txBody>
      </p:sp>
      <p:pic>
        <p:nvPicPr>
          <p:cNvPr id="8" name="Content Placeholder 7">
            <a:extLst>
              <a:ext uri="{FF2B5EF4-FFF2-40B4-BE49-F238E27FC236}">
                <a16:creationId xmlns:a16="http://schemas.microsoft.com/office/drawing/2014/main" id="{13C763A6-7A0A-4AB9-973A-D6DF023FCE39}"/>
              </a:ext>
            </a:extLst>
          </p:cNvPr>
          <p:cNvPicPr>
            <a:picLocks noGrp="1" noChangeAspect="1"/>
          </p:cNvPicPr>
          <p:nvPr>
            <p:ph sz="half" idx="1"/>
          </p:nvPr>
        </p:nvPicPr>
        <p:blipFill>
          <a:blip r:embed="rId3"/>
          <a:stretch>
            <a:fillRect/>
          </a:stretch>
        </p:blipFill>
        <p:spPr>
          <a:xfrm>
            <a:off x="17318" y="1330036"/>
            <a:ext cx="4478482" cy="5122719"/>
          </a:xfrm>
        </p:spPr>
      </p:pic>
      <p:pic>
        <p:nvPicPr>
          <p:cNvPr id="6" name="Content Placeholder 5">
            <a:extLst>
              <a:ext uri="{FF2B5EF4-FFF2-40B4-BE49-F238E27FC236}">
                <a16:creationId xmlns:a16="http://schemas.microsoft.com/office/drawing/2014/main" id="{2C22E7A3-7E62-4589-9443-3D3B0F6AAD8D}"/>
              </a:ext>
            </a:extLst>
          </p:cNvPr>
          <p:cNvPicPr>
            <a:picLocks noGrp="1" noChangeAspect="1"/>
          </p:cNvPicPr>
          <p:nvPr>
            <p:ph sz="half" idx="2"/>
          </p:nvPr>
        </p:nvPicPr>
        <p:blipFill>
          <a:blip r:embed="rId4"/>
          <a:stretch>
            <a:fillRect/>
          </a:stretch>
        </p:blipFill>
        <p:spPr>
          <a:xfrm>
            <a:off x="4208318" y="1417639"/>
            <a:ext cx="4478482" cy="4708524"/>
          </a:xfrm>
        </p:spPr>
      </p:pic>
    </p:spTree>
    <p:extLst>
      <p:ext uri="{BB962C8B-B14F-4D97-AF65-F5344CB8AC3E}">
        <p14:creationId xmlns:p14="http://schemas.microsoft.com/office/powerpoint/2010/main" val="613393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Classification Models (Dataset1)</a:t>
            </a: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SY"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Models used:</a:t>
            </a:r>
            <a:endParaRPr kumimoji="0" lang="ar-SY" altLang="en-US" sz="1800" b="1" i="0" u="none" strike="noStrike" cap="none" normalizeH="0" baseline="0" dirty="0">
              <a:ln>
                <a:noFill/>
              </a:ln>
              <a:solidFill>
                <a:schemeClr val="tx1"/>
              </a:solidFill>
              <a:effectLst/>
              <a:latin typeface="Arial" panose="020B0604020202020204" pitchFamily="34" charset="0"/>
            </a:endParaRPr>
          </a:p>
          <a:p>
            <a:pPr marL="400050" lvl="1" indent="0" defTabSz="914400" eaLnBrk="0" fontAlgn="base" hangingPunct="0">
              <a:spcBef>
                <a:spcPct val="0"/>
              </a:spcBef>
              <a:spcAft>
                <a:spcPct val="0"/>
              </a:spcAft>
              <a:buNone/>
            </a:pPr>
            <a:r>
              <a:rPr kumimoji="0" lang="ar-SY" altLang="en-US" sz="24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Decision Tree, Random Forest, Gradient Boosting, KNN, SVM, Logistic Regression, </a:t>
            </a:r>
            <a:r>
              <a:rPr kumimoji="0" lang="en-US" altLang="en-US" sz="1800" b="0"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CatBoost</a:t>
            </a:r>
            <a:r>
              <a:rPr kumimoji="0" lang="en-US" altLang="en-US" sz="1800" b="0" i="0" u="none" strike="noStrike" cap="none" normalizeH="0" baseline="0" dirty="0">
                <a:ln>
                  <a:noFill/>
                </a:ln>
                <a:solidFill>
                  <a:schemeClr val="tx1"/>
                </a:solidFill>
                <a:effectLst/>
                <a:latin typeface="Arial" panose="020B0604020202020204" pitchFamily="34" charset="0"/>
              </a:rPr>
              <a:t>, AdaBoost</a:t>
            </a:r>
          </a:p>
          <a:p>
            <a:pPr marL="400050" lvl="1" indent="0" defTabSz="914400" eaLnBrk="0" fontAlgn="base" hangingPunct="0">
              <a:spcBef>
                <a:spcPct val="0"/>
              </a:spcBef>
              <a:spcAft>
                <a:spcPct val="0"/>
              </a:spcAft>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r>
              <a:rPr kumimoji="0" lang="en-US" altLang="en-US" sz="1800" b="1" i="0" u="none" strike="noStrike" cap="none" normalizeH="0" baseline="0" dirty="0">
                <a:ln>
                  <a:noFill/>
                </a:ln>
                <a:solidFill>
                  <a:schemeClr val="tx1"/>
                </a:solidFill>
                <a:effectLst/>
                <a:latin typeface="Arial" panose="020B0604020202020204" pitchFamily="34" charset="0"/>
              </a:rPr>
              <a:t>Accuracy was primary metric; confusion matrix to address class imbalance</a:t>
            </a:r>
            <a:endParaRPr lang="en-GB" sz="18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Results</a:t>
            </a:r>
          </a:p>
        </p:txBody>
      </p:sp>
      <p:sp>
        <p:nvSpPr>
          <p:cNvPr id="3" name="Content Placeholder 2"/>
          <p:cNvSpPr>
            <a:spLocks noGrp="1"/>
          </p:cNvSpPr>
          <p:nvPr>
            <p:ph idx="1"/>
          </p:nvPr>
        </p:nvSpPr>
        <p:spPr/>
        <p:txBody>
          <a:bodyPr/>
          <a:lstStyle/>
          <a:p>
            <a:r>
              <a:rPr dirty="0"/>
              <a:t>SVM: 0.75, Random Forest: 0.70, LR: 0.73, etc.</a:t>
            </a:r>
            <a:endParaRPr lang="en-GB" dirty="0"/>
          </a:p>
          <a:p>
            <a:endParaRPr dirty="0"/>
          </a:p>
        </p:txBody>
      </p:sp>
      <p:pic>
        <p:nvPicPr>
          <p:cNvPr id="8" name="Picture 7">
            <a:extLst>
              <a:ext uri="{FF2B5EF4-FFF2-40B4-BE49-F238E27FC236}">
                <a16:creationId xmlns:a16="http://schemas.microsoft.com/office/drawing/2014/main" id="{13F7F933-A0DA-434B-BFDE-A34862409F40}"/>
              </a:ext>
            </a:extLst>
          </p:cNvPr>
          <p:cNvPicPr>
            <a:picLocks noChangeAspect="1"/>
          </p:cNvPicPr>
          <p:nvPr/>
        </p:nvPicPr>
        <p:blipFill>
          <a:blip r:embed="rId3"/>
          <a:stretch>
            <a:fillRect/>
          </a:stretch>
        </p:blipFill>
        <p:spPr>
          <a:xfrm>
            <a:off x="836578" y="2182569"/>
            <a:ext cx="7334655" cy="44007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Confusion Matrix (Dataset1)</a:t>
            </a:r>
          </a:p>
        </p:txBody>
      </p:sp>
      <p:sp>
        <p:nvSpPr>
          <p:cNvPr id="3" name="Content Placeholder 2"/>
          <p:cNvSpPr>
            <a:spLocks noGrp="1"/>
          </p:cNvSpPr>
          <p:nvPr>
            <p:ph idx="1"/>
          </p:nvPr>
        </p:nvSpPr>
        <p:spPr/>
        <p:txBody>
          <a:bodyPr/>
          <a:lstStyle/>
          <a:p>
            <a:r>
              <a:rPr dirty="0"/>
              <a:t>Majority class 'E' ~50%</a:t>
            </a:r>
          </a:p>
          <a:p>
            <a:r>
              <a:rPr dirty="0"/>
              <a:t>Minor classes =&gt; lower recall</a:t>
            </a:r>
          </a:p>
        </p:txBody>
      </p:sp>
      <p:pic>
        <p:nvPicPr>
          <p:cNvPr id="6" name="Picture 5">
            <a:extLst>
              <a:ext uri="{FF2B5EF4-FFF2-40B4-BE49-F238E27FC236}">
                <a16:creationId xmlns:a16="http://schemas.microsoft.com/office/drawing/2014/main" id="{4EF0E714-C4D4-495F-A6EE-969D9545B069}"/>
              </a:ext>
            </a:extLst>
          </p:cNvPr>
          <p:cNvPicPr>
            <a:picLocks noChangeAspect="1"/>
          </p:cNvPicPr>
          <p:nvPr/>
        </p:nvPicPr>
        <p:blipFill>
          <a:blip r:embed="rId3"/>
          <a:stretch>
            <a:fillRect/>
          </a:stretch>
        </p:blipFill>
        <p:spPr>
          <a:xfrm>
            <a:off x="2127142" y="2829772"/>
            <a:ext cx="4565487" cy="340565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Comparison with Other Results</a:t>
            </a:r>
          </a:p>
        </p:txBody>
      </p:sp>
      <p:sp>
        <p:nvSpPr>
          <p:cNvPr id="3" name="Content Placeholder 2"/>
          <p:cNvSpPr>
            <a:spLocks noGrp="1"/>
          </p:cNvSpPr>
          <p:nvPr>
            <p:ph idx="1"/>
          </p:nvPr>
        </p:nvSpPr>
        <p:spPr/>
        <p:txBody>
          <a:bodyPr/>
          <a:lstStyle/>
          <a:p>
            <a:r>
              <a:rPr dirty="0"/>
              <a:t>Our SVM: 0.75 vs. older references ~0.63–0.70</a:t>
            </a:r>
          </a:p>
          <a:p>
            <a:r>
              <a:rPr dirty="0"/>
              <a:t>Table: Comparison of </a:t>
            </a:r>
            <a:r>
              <a:rPr dirty="0" err="1"/>
              <a:t>classif</a:t>
            </a:r>
            <a:r>
              <a:rPr lang="en-GB" dirty="0" err="1"/>
              <a:t>i</a:t>
            </a:r>
            <a:r>
              <a:rPr dirty="0"/>
              <a:t>cation accuracies</a:t>
            </a:r>
          </a:p>
        </p:txBody>
      </p:sp>
      <p:pic>
        <p:nvPicPr>
          <p:cNvPr id="6" name="Picture 5">
            <a:extLst>
              <a:ext uri="{FF2B5EF4-FFF2-40B4-BE49-F238E27FC236}">
                <a16:creationId xmlns:a16="http://schemas.microsoft.com/office/drawing/2014/main" id="{24DCE9A9-F69E-4A59-9D52-972F9853A4F0}"/>
              </a:ext>
            </a:extLst>
          </p:cNvPr>
          <p:cNvPicPr>
            <a:picLocks noChangeAspect="1"/>
          </p:cNvPicPr>
          <p:nvPr/>
        </p:nvPicPr>
        <p:blipFill>
          <a:blip r:embed="rId3"/>
          <a:stretch>
            <a:fillRect/>
          </a:stretch>
        </p:blipFill>
        <p:spPr>
          <a:xfrm>
            <a:off x="1841557" y="3282074"/>
            <a:ext cx="5460886" cy="17957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Regression Models (Dataset2)</a:t>
            </a:r>
          </a:p>
        </p:txBody>
      </p:sp>
      <p:pic>
        <p:nvPicPr>
          <p:cNvPr id="5" name="Content Placeholder 4">
            <a:extLst>
              <a:ext uri="{FF2B5EF4-FFF2-40B4-BE49-F238E27FC236}">
                <a16:creationId xmlns:a16="http://schemas.microsoft.com/office/drawing/2014/main" id="{4F101412-B04D-4738-BFD3-DEE557B63D5D}"/>
              </a:ext>
            </a:extLst>
          </p:cNvPr>
          <p:cNvPicPr>
            <a:picLocks noGrp="1" noChangeAspect="1"/>
          </p:cNvPicPr>
          <p:nvPr>
            <p:ph idx="1"/>
          </p:nvPr>
        </p:nvPicPr>
        <p:blipFill>
          <a:blip r:embed="rId3"/>
          <a:stretch>
            <a:fillRect/>
          </a:stretch>
        </p:blipFill>
        <p:spPr>
          <a:xfrm>
            <a:off x="796330" y="1600200"/>
            <a:ext cx="7551339" cy="4525963"/>
          </a:xfrm>
        </p:spPr>
      </p:pic>
      <p:sp>
        <p:nvSpPr>
          <p:cNvPr id="3" name="TextBox 2">
            <a:extLst>
              <a:ext uri="{FF2B5EF4-FFF2-40B4-BE49-F238E27FC236}">
                <a16:creationId xmlns:a16="http://schemas.microsoft.com/office/drawing/2014/main" id="{EE65774D-C4C9-48D6-8611-4A10C7026833}"/>
              </a:ext>
            </a:extLst>
          </p:cNvPr>
          <p:cNvSpPr txBox="1"/>
          <p:nvPr/>
        </p:nvSpPr>
        <p:spPr>
          <a:xfrm>
            <a:off x="2263386" y="6035040"/>
            <a:ext cx="4617226" cy="369332"/>
          </a:xfrm>
          <a:prstGeom prst="rect">
            <a:avLst/>
          </a:prstGeom>
          <a:noFill/>
        </p:spPr>
        <p:txBody>
          <a:bodyPr wrap="none" rtlCol="0">
            <a:spAutoFit/>
          </a:bodyPr>
          <a:lstStyle/>
          <a:p>
            <a:r>
              <a:rPr lang="pt-BR" dirty="0"/>
              <a:t>Random Forest Regressor = 0.90 R², MSE = 0.11</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Pros &amp; Cons</a:t>
            </a:r>
          </a:p>
        </p:txBody>
      </p:sp>
      <p:sp>
        <p:nvSpPr>
          <p:cNvPr id="3" name="Content Placeholder 2"/>
          <p:cNvSpPr>
            <a:spLocks noGrp="1"/>
          </p:cNvSpPr>
          <p:nvPr>
            <p:ph idx="1"/>
          </p:nvPr>
        </p:nvSpPr>
        <p:spPr/>
        <p:txBody>
          <a:bodyPr/>
          <a:lstStyle/>
          <a:p>
            <a:r>
              <a:rPr dirty="0"/>
              <a:t>Advantages: </a:t>
            </a:r>
            <a:r>
              <a:rPr lang="en-GB" dirty="0"/>
              <a:t>Good accuracy, robust ensemble methods, interpretability of correlation.</a:t>
            </a:r>
            <a:endParaRPr lang="ar-SY" dirty="0"/>
          </a:p>
          <a:p>
            <a:r>
              <a:rPr dirty="0"/>
              <a:t>Disadvantages: </a:t>
            </a:r>
            <a:r>
              <a:rPr lang="en-GB" dirty="0"/>
              <a:t>Class imbalance in Dataset1, smaller sample size in Dataset2</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B666A-42A6-4BA0-B634-5393DD670858}"/>
              </a:ext>
            </a:extLst>
          </p:cNvPr>
          <p:cNvSpPr>
            <a:spLocks noGrp="1"/>
          </p:cNvSpPr>
          <p:nvPr>
            <p:ph type="title"/>
          </p:nvPr>
        </p:nvSpPr>
        <p:spPr/>
        <p:txBody>
          <a:bodyPr/>
          <a:lstStyle/>
          <a:p>
            <a:r>
              <a:rPr lang="en-GB" dirty="0"/>
              <a:t>Future Work</a:t>
            </a:r>
          </a:p>
        </p:txBody>
      </p:sp>
      <p:sp>
        <p:nvSpPr>
          <p:cNvPr id="3" name="Content Placeholder 2">
            <a:extLst>
              <a:ext uri="{FF2B5EF4-FFF2-40B4-BE49-F238E27FC236}">
                <a16:creationId xmlns:a16="http://schemas.microsoft.com/office/drawing/2014/main" id="{4714403E-E82B-4E4B-8E26-3E5BEB015080}"/>
              </a:ext>
            </a:extLst>
          </p:cNvPr>
          <p:cNvSpPr>
            <a:spLocks noGrp="1"/>
          </p:cNvSpPr>
          <p:nvPr>
            <p:ph idx="1"/>
          </p:nvPr>
        </p:nvSpPr>
        <p:spPr/>
        <p:txBody>
          <a:bodyPr/>
          <a:lstStyle/>
          <a:p>
            <a:r>
              <a:rPr lang="en-GB" dirty="0"/>
              <a:t>Resampling methods (SMOTE, class weighting) to address imbalance.</a:t>
            </a:r>
            <a:endParaRPr lang="ar-SY" dirty="0"/>
          </a:p>
          <a:p>
            <a:r>
              <a:rPr lang="en-GB" dirty="0"/>
              <a:t>Larger or more diverse datasets.</a:t>
            </a:r>
            <a:endParaRPr lang="ar-SY" dirty="0"/>
          </a:p>
          <a:p>
            <a:r>
              <a:rPr lang="en-GB" dirty="0"/>
              <a:t>Incorporating text features or other advanced data sources.</a:t>
            </a:r>
            <a:endParaRPr lang="ar-SY" dirty="0"/>
          </a:p>
          <a:p>
            <a:endParaRPr lang="en-GB" dirty="0"/>
          </a:p>
        </p:txBody>
      </p:sp>
    </p:spTree>
    <p:extLst>
      <p:ext uri="{BB962C8B-B14F-4D97-AF65-F5344CB8AC3E}">
        <p14:creationId xmlns:p14="http://schemas.microsoft.com/office/powerpoint/2010/main" val="1522570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Summary</a:t>
            </a:r>
          </a:p>
        </p:txBody>
      </p:sp>
      <p:sp>
        <p:nvSpPr>
          <p:cNvPr id="3" name="Content Placeholder 2"/>
          <p:cNvSpPr>
            <a:spLocks noGrp="1"/>
          </p:cNvSpPr>
          <p:nvPr>
            <p:ph idx="1"/>
          </p:nvPr>
        </p:nvSpPr>
        <p:spPr/>
        <p:txBody>
          <a:bodyPr/>
          <a:lstStyle/>
          <a:p>
            <a:r>
              <a:rPr lang="en-GB" dirty="0"/>
              <a:t>Data cleaning &amp; encoding are essential.</a:t>
            </a:r>
          </a:p>
          <a:p>
            <a:endParaRPr lang="en-GB" dirty="0"/>
          </a:p>
          <a:p>
            <a:r>
              <a:rPr lang="en-GB" dirty="0"/>
              <a:t>SVM is best for discrete grade classification.</a:t>
            </a:r>
          </a:p>
          <a:p>
            <a:endParaRPr lang="en-GB" dirty="0"/>
          </a:p>
          <a:p>
            <a:r>
              <a:rPr lang="en-GB" dirty="0"/>
              <a:t>Random Forest Regressor is best for continuous performance.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a:t>
            </a:r>
          </a:p>
        </p:txBody>
      </p:sp>
      <p:sp>
        <p:nvSpPr>
          <p:cNvPr id="3" name="Content Placeholder 2"/>
          <p:cNvSpPr>
            <a:spLocks noGrp="1"/>
          </p:cNvSpPr>
          <p:nvPr>
            <p:ph idx="1"/>
          </p:nvPr>
        </p:nvSpPr>
        <p:spPr/>
        <p:txBody>
          <a:bodyPr/>
          <a:lstStyle/>
          <a:p>
            <a:r>
              <a:rPr lang="en-GB" dirty="0"/>
              <a:t>Our approach effectively predicts student performance under two paradigms. With more data and careful balancing, we could further refine these models</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TotalTime>
  <Words>906</Words>
  <Application>Microsoft Office PowerPoint</Application>
  <PresentationFormat>On-screen Show (4:3)</PresentationFormat>
  <Paragraphs>93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Predicting Student Performance</vt:lpstr>
      <vt:lpstr>What factors most influence student performance?</vt:lpstr>
      <vt:lpstr>The Problem</vt:lpstr>
      <vt:lpstr>The Datasets</vt:lpstr>
      <vt:lpstr>Our Approach</vt:lpstr>
      <vt:lpstr>Data cleaning</vt:lpstr>
      <vt:lpstr>Data cleaning</vt:lpstr>
      <vt:lpstr>Feature Correlation</vt:lpstr>
      <vt:lpstr>Classification Models (Dataset1)</vt:lpstr>
      <vt:lpstr>Classification Results</vt:lpstr>
      <vt:lpstr>Confusion Matrix (Dataset1)</vt:lpstr>
      <vt:lpstr>Comparison with Other Results</vt:lpstr>
      <vt:lpstr>Regression Models (Dataset2)</vt:lpstr>
      <vt:lpstr>Pros &amp; Cons</vt:lpstr>
      <vt:lpstr>Future Work</vt:lpstr>
      <vt:lpstr>Summary</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dc:title>
  <dc:subject/>
  <dc:creator>Waleed Rimawi</dc:creator>
  <cp:keywords/>
  <dc:description>generated using python-pptx</dc:description>
  <cp:lastModifiedBy>waleed rimawi</cp:lastModifiedBy>
  <cp:revision>18</cp:revision>
  <dcterms:created xsi:type="dcterms:W3CDTF">2013-01-27T09:14:16Z</dcterms:created>
  <dcterms:modified xsi:type="dcterms:W3CDTF">2024-12-22T21:04:09Z</dcterms:modified>
  <cp:category/>
</cp:coreProperties>
</file>